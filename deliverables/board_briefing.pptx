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gap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IT · Milan</c:v>
                </c:pt>
                <c:pt idx="1">
                  <c:v>PL · Kraków</c:v>
                </c:pt>
                <c:pt idx="2">
                  <c:v>DE · Munich</c:v>
                </c:pt>
                <c:pt idx="3">
                  <c:v>ES · Barcelona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0.19690178045978837</c:v>
                </c:pt>
                <c:pt idx="1">
                  <c:v>0.1516992449144029</c:v>
                </c:pt>
                <c:pt idx="2">
                  <c:v>0.14542676945197494</c:v>
                </c:pt>
                <c:pt idx="3">
                  <c:v>0.21517341857768565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 gap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IT · Milan</c:v>
                </c:pt>
                <c:pt idx="1">
                  <c:v>PL · Kraków</c:v>
                </c:pt>
                <c:pt idx="2">
                  <c:v>DE · Munich</c:v>
                </c:pt>
                <c:pt idx="3">
                  <c:v>ES · Barcelona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0.16851168511685113</c:v>
                </c:pt>
                <c:pt idx="1">
                  <c:v>0.12505825695199613</c:v>
                </c:pt>
                <c:pt idx="2">
                  <c:v>0.1132663664703845</c:v>
                </c:pt>
                <c:pt idx="3">
                  <c:v>0.18901660280970636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00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B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Lowest band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IT · Milan</c:v>
                </c:pt>
                <c:pt idx="1">
                  <c:v>PL · Kraków</c:v>
                </c:pt>
                <c:pt idx="2">
                  <c:v>DE · Munich</c:v>
                </c:pt>
                <c:pt idx="3">
                  <c:v>ES · Barcelona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0.6287878787878788</c:v>
                </c:pt>
                <c:pt idx="1">
                  <c:v>0.5882352941176471</c:v>
                </c:pt>
                <c:pt idx="2">
                  <c:v>0.543010752688172</c:v>
                </c:pt>
                <c:pt idx="3">
                  <c:v>0.6612903225806451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Highest band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IT · Milan</c:v>
                </c:pt>
                <c:pt idx="1">
                  <c:v>PL · Kraków</c:v>
                </c:pt>
                <c:pt idx="2">
                  <c:v>DE · Munich</c:v>
                </c:pt>
                <c:pt idx="3">
                  <c:v>ES · Barcelona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0.3155893536121673</c:v>
                </c:pt>
                <c:pt idx="1">
                  <c:v>0.35986159169550175</c:v>
                </c:pt>
                <c:pt idx="2">
                  <c:v>0.372972972972973</c:v>
                </c:pt>
                <c:pt idx="3">
                  <c:v>0.3008130081300813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1B243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1B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Purpose: tell the board where the organisation stands against the EU Pay Transparency Directive before the first statutory report, and what decisions are needed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four numbers. The cost is an upper bound: it lifts the lower-paid sex's average hourly pay in every flagged category, before any part of the gap is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Italy has transposed in full among our four countries. The Directive's dates still frame the plan; national acts can add detail on method and filing, which is why the model keeps every choice in a Settings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15.4% base-pay figure is the same number the earlier people-analytics review found, which is a useful cross-check: the two analyses agree before components are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Quartile bands are four equal groups of workers ranked by hourly pay within each employer.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territory effect is planted in the synthetic data on purpose, and documented, so the screen can be shown finding it. In a real client this is a question for Sales operations: how are territories assigned?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Flag rule: a difference of 5% or more in either direction, on hourly or annual pay. Categories come from a gender-neutral job evaluation on skills, effort, responsibility and working conditions. Two categories have fewer than five workers of one sex; their figures go only to workers' representatives, the labour inspectorate or the equality 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Italy's decree defines livello retributivo as fixed and continuing pay, without individual components granted on a personal, discretionary or temporary basis (art. 3(1)(b)); items (a), (c), (f) and the 5% test use it (art. 9, art. 10). Read here as base pay plus shift and car allowances, paid by a general rule. Keep the total-pay figures too: the Directive is the floor, and the Commission's conformity check may settle the definition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Statuses are illustrative for the demonstration organisation.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for the three decisions explicitly. The budget is a ceiling, not a spend: justified gaps need documentation, not money.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1097280"/>
            <a:ext cx="2843784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Directive (EU) 2023/970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mbria"/>
              </a:rPr>
              <a:t>Pay transparency: where we stand before the first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CAD6E6"/>
                </a:solidFill>
                <a:latin typeface="Calibri"/>
              </a:rPr>
              <a:t>Dry run on pay at 30 June 2026 · four employers · 3,443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Board briefing · September 2026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CAD6E6"/>
                </a:solidFill>
                <a:latin typeface="Calibri"/>
              </a:rPr>
              <a:t>Synthetic data built for demonstration. Not legal advice.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17319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Four employers report every year from June 2027, and none is ready yet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567863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2110663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mbria"/>
              </a:rPr>
              <a:t>Jun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21106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first report due 7 June 2027, then every year (Art. 9(2))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823" y="2103120"/>
            <a:ext cx="2567863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9423" y="2331720"/>
            <a:ext cx="2110663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Cambria"/>
              </a:rPr>
              <a:t>17.6%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423" y="3154680"/>
            <a:ext cx="21106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gender pay gap on hourly pay across the group (Art. 9(1)(a))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03120"/>
            <a:ext cx="2567863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7" y="2331720"/>
            <a:ext cx="2110663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EB6834"/>
                </a:solidFill>
                <a:latin typeface="Cambria"/>
              </a:rPr>
              <a:t>12 of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7" y="3154680"/>
            <a:ext cx="21106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categories of workers at 5% or more: justify or remedy (Art. 10)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5191" y="2103120"/>
            <a:ext cx="2567863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3791" y="2331720"/>
            <a:ext cx="2110663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F3A5F"/>
                </a:solidFill>
                <a:latin typeface="Cambria"/>
              </a:rPr>
              <a:t>€1.9M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791" y="3154680"/>
            <a:ext cx="21106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a year, at most, to close those gaps outright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8912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B2430"/>
                </a:solidFill>
                <a:latin typeface="Calibri"/>
              </a:rPr>
              <a:t>Readiness: 1 of 14 obligations in place, 6 partly, 7 missing.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B7A"/>
                </a:solidFill>
                <a:latin typeface="Calibri"/>
              </a:rPr>
              <a:t>Without a justification or a remedy by 7 December 2027, each flagged category triggers a joint pay assessment with workers' representatives - and, where the transparency duties were not met, the burden of proof in a pay claim shifts to the employer (Art. 18(2)).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624328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Articles 9, 10 and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The timetable is fixed; the national rules are not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48840"/>
            <a:ext cx="256032" cy="256032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859536.0" y="2276856"/>
            <a:ext cx="2476423.75" cy="0"/>
          </a:xfrm>
          <a:prstGeom prst="line">
            <a:avLst/>
          </a:prstGeom>
          <a:ln w="19050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5603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mbria"/>
              </a:rPr>
              <a:t>7 Jun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Transposition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Member States had to bring the Directive into national law.</a:t>
            </a:r>
          </a:p>
        </p:txBody>
      </p:sp>
      <p:sp>
        <p:nvSpPr>
          <p:cNvPr id="9" name="Oval 8"/>
          <p:cNvSpPr/>
          <p:nvPr/>
        </p:nvSpPr>
        <p:spPr>
          <a:xfrm>
            <a:off x="3390823" y="2148840"/>
            <a:ext cx="256032" cy="256032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701719.75" y="2276856"/>
            <a:ext cx="2476423.75" cy="0"/>
          </a:xfrm>
          <a:prstGeom prst="line">
            <a:avLst/>
          </a:prstGeom>
          <a:ln w="19050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90823" y="25603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mbria"/>
              </a:rPr>
              <a:t>7 Jun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0823" y="2971800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First pay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0823" y="333756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250+ workers: every year. 150-249: every three years.</a:t>
            </a:r>
          </a:p>
        </p:txBody>
      </p:sp>
      <p:sp>
        <p:nvSpPr>
          <p:cNvPr id="14" name="Oval 13"/>
          <p:cNvSpPr/>
          <p:nvPr/>
        </p:nvSpPr>
        <p:spPr>
          <a:xfrm>
            <a:off x="6233007" y="2148840"/>
            <a:ext cx="256032" cy="256032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543903.5" y="2276856"/>
            <a:ext cx="2476423.75" cy="0"/>
          </a:xfrm>
          <a:prstGeom prst="line">
            <a:avLst/>
          </a:prstGeom>
          <a:ln w="19050">
            <a:solidFill>
              <a:srgbClr val="C3C2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33007" y="25603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mbria"/>
              </a:rPr>
              <a:t>7 Dec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2971800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Justify or remedy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333756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Six months to explain or close any category gap of 5% or more.</a:t>
            </a:r>
          </a:p>
        </p:txBody>
      </p:sp>
      <p:sp>
        <p:nvSpPr>
          <p:cNvPr id="19" name="Oval 18"/>
          <p:cNvSpPr/>
          <p:nvPr/>
        </p:nvSpPr>
        <p:spPr>
          <a:xfrm>
            <a:off x="9075191" y="2148840"/>
            <a:ext cx="256032" cy="256032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560320"/>
            <a:ext cx="256786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F3A5F"/>
                </a:solidFill>
                <a:latin typeface="Cambria"/>
              </a:rPr>
              <a:t>Then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191" y="2971800"/>
            <a:ext cx="25678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B2430"/>
                </a:solidFill>
                <a:latin typeface="Calibri"/>
              </a:rPr>
              <a:t>Joint pay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5191" y="3337560"/>
            <a:ext cx="2567863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With workers' representatives, if a gap is neither justified nor remedied.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Status of national law, 16 September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2803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IT · Milan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48006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Transposed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47823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D.Lgs. 96/2026, in force 7 June 2026; collective agreements anchor the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82803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PL · Kraków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80" y="48006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B2430"/>
                </a:solidFill>
                <a:latin typeface="Calibri"/>
              </a:rPr>
              <a:t>Partly transposed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47823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Recruitment rules in force; the reporting act is a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1383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DE · Munich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0" y="54864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Not transposed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40" y="54681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No act yet; the 2017 pay transparency act still applies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51383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B2430"/>
                </a:solidFill>
                <a:latin typeface="Calibri"/>
              </a:rPr>
              <a:t>ES · Barcelona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80" y="548640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B2430"/>
                </a:solidFill>
                <a:latin typeface="Calibri"/>
              </a:rPr>
              <a:t>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468112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Draft Royal Decree, consulted in August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843784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Article 9(1)(a) and (c)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Women earn less per hour in every employer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Gender pay gap on gross hourly pay, base plus bonus, commission and allowances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19456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79" y="2377440"/>
            <a:ext cx="3657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Median below mean everywhere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The gap is concentrated at the top of the pay distribution.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Base pay alone: 15.4%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Components add 2.2 points to the group gap - the part a base-pay analysis misses.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Group: 17.6% mean, 15.6% median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A management view; each employer reports on its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Article 9(1)(f)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Women fill the lowest pay band, not the highest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Share of women in the lowest and highest of four equal pay bands, by employer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2194560"/>
          <a:ext cx="694944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955279" y="2377440"/>
            <a:ext cx="3657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60% of the lowest band, 34% of the highest</a:t>
            </a:r>
          </a:p>
          <a:p>
            <a:pPr algn="l">
              <a:spcAft>
                <a:spcPts val="1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Across the group, against 50% parity.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Vertical segregation is the main driver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Women are 57% of entry roles and 30% of country heads of function. Promotion and hiring into senior roles move this number more than pay adjustments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3392424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Article 9(1)(b), (d) and (e)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Bonus, commission and allowances widen the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3058058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B6834"/>
                </a:solidFill>
                <a:latin typeface="Cambria"/>
              </a:rPr>
              <a:t>31.1%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gap in average components, among workers who receive any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92024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148840"/>
            <a:ext cx="3058058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A5F"/>
                </a:solidFill>
                <a:latin typeface="Cambria"/>
              </a:rPr>
              <a:t>8.2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97180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fewer women receive any component: 55.4% against 63.6% of men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92024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148840"/>
            <a:ext cx="3058058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B6834"/>
                </a:solidFill>
                <a:latin typeface="Cambria"/>
              </a:rPr>
              <a:t>2.5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97180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lower commission rate for women in Sales: 12.6% of base pay against 15.1%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1094415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Eligibility follows seniority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Bonus starts at L3 and car allowances at L5, where fewer women work. Structural, and visible in the quartile bands.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343400"/>
            <a:ext cx="5120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Commission follows territory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The commission rules are the same for everyone; women are given territories with lower potential. Neutral on paper, unequal in effect: the kind of rule a joint pay assessment exists to find.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417319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Article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12 categories to justify or remedy by 7 Dec 2027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091672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280160"/>
                <a:gridCol w="1188720"/>
                <a:gridCol w="4206240"/>
                <a:gridCol w="158191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Employer</a:t>
                      </a:r>
                    </a:p>
                  </a:txBody>
                  <a:tcPr marT="30000" marB="3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T="30000" marB="3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Women / men</a:t>
                      </a:r>
                    </a:p>
                  </a:txBody>
                  <a:tcPr marT="30000" marB="3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Hourly gap</a:t>
                      </a:r>
                    </a:p>
                  </a:txBody>
                  <a:tcPr marT="30000" marB="3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Main driver</a:t>
                      </a:r>
                    </a:p>
                  </a:txBody>
                  <a:tcPr marT="30000" marB="30000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Cost to close</a:t>
                      </a:r>
                    </a:p>
                  </a:txBody>
                  <a:tcPr marT="30000" marB="30000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IT · Milan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147 / 106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(7.9 of 7.4 pts)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€332k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PL · Kraków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125 / 133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(5.9 of 5.7 pts)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€263k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DE · Munich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47 / 65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(5.9 of 6.0 pts)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€254k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PL · Kraków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37 / 56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(6.3 of 8.0 pts)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€222k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PL · Kraków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49 / 87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(6.8 of 7.9 pts)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€189k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ES · Barcelona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56 / 52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6.9%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(4.8 of 6.9 pts)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€173k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ES · Barcelona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5 / 24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-5.2%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(-5.7 of -5.2 pts)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€107k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ES · Barcelona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64 / 48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Base pay (5.2 of 5.3 pts)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€98k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IT · Milan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7 / 20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10.5%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Components (5.4 of 10.5 pts)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€95k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IT · Milan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72 / 55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4.1%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Hours worked: flagged on annual pay only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€85k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ES · Barcelona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28 / 41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5.0%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Components (2.8 of 5.0 pts)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€83k</a:t>
                      </a:r>
                    </a:p>
                  </a:txBody>
                  <a:tcPr marT="30000" marB="30000">
                    <a:solidFill>
                      <a:srgbClr val="F1F4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ES · Barcelona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4 / 9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2.4%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Hours worked: flagged on annual pay only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B2430"/>
                          </a:solidFill>
                          <a:latin typeface="Calibri"/>
                        </a:rPr>
                        <a:t>€12k</a:t>
                      </a:r>
                    </a:p>
                  </a:txBody>
                  <a:tcPr marT="30000" marB="3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856231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D.lgs. 96/2026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In Italy the gap is measured on fixed pay, and Milan's figures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3058058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B6834"/>
                </a:solidFill>
                <a:latin typeface="Cambria"/>
              </a:rPr>
              <a:t>18.0%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7180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Milan's gap on livello retributivo: fixed and continuing pay, the measure the Italian report 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92024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148840"/>
            <a:ext cx="3058058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F3A5F"/>
                </a:solidFill>
                <a:latin typeface="Cambria"/>
              </a:rPr>
              <a:t>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97180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the same employer on total pay, the Directive's measure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920240"/>
            <a:ext cx="3515258" cy="18288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148840"/>
            <a:ext cx="3058058" cy="7315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EB6834"/>
                </a:solidFill>
                <a:latin typeface="Cambria"/>
              </a:rPr>
              <a:t>3 of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971800"/>
            <a:ext cx="3058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B2430"/>
                </a:solidFill>
                <a:latin typeface="Calibri"/>
              </a:rPr>
              <a:t>Milan categories to justify or remedy, the same under both measures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343400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Cat G: 10.5% → 6.1%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Bonus and commission leave the Italian 5% test. They stay in items (b) and (d), and in any equal-pay claim.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4114800"/>
            <a:ext cx="5349240" cy="201168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11112" y="4343400"/>
            <a:ext cx="47091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B2430"/>
                </a:solidFill>
                <a:latin typeface="Calibri"/>
              </a:rPr>
              <a:t>Cat A: 4.1% → 6.1%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F6B7A"/>
                </a:solidFill>
                <a:latin typeface="Calibri"/>
              </a:rPr>
              <a:t>Components were offsetting a gap in fixed pay. Without them, the justification has to be about base pay and allowances.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2075688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Articles 4 to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Most of what workers will see is not built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B2430"/>
                </a:solidFill>
                <a:latin typeface="Cambria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874519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B2430"/>
                </a:solidFill>
                <a:latin typeface="Cambria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26517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B2430"/>
                </a:solidFill>
                <a:latin typeface="Calibri"/>
              </a:rPr>
              <a:t>Partial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40" y="1874519"/>
            <a:ext cx="1371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1B2430"/>
                </a:solidFill>
                <a:latin typeface="Cambria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265176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1168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F6B7A"/>
                </a:solidFill>
                <a:latin typeface="Calibri"/>
              </a:rPr>
              <a:t>The missing pieces are the ones workers and applicants see first: pay ranges, published criteria, an answer to their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2602153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374136"/>
            <a:ext cx="227296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Art. 5(1) · Talent Acquisition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Applicants receive the initial pay or its range, and the relevant collective agreement provisions, before the interview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9393" y="3246120"/>
            <a:ext cx="2602153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3985" y="3374136"/>
            <a:ext cx="227296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Art. 6(1) · Reward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Workers can easily access the criteria that set pay, pay levels and pay progression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46120"/>
            <a:ext cx="2602153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4739" y="3374136"/>
            <a:ext cx="227296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Art. 7(1) and 7(4) · HR Operations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Workers can request their own pay level and the average pay by sex for their category, answered in writing within two months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0901" y="3246120"/>
            <a:ext cx="2602153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5493" y="3374136"/>
            <a:ext cx="227296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Art. 7(3) · HR Operations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Workers are told every year of their right to request that information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00600"/>
            <a:ext cx="2602153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928616"/>
            <a:ext cx="227296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Art. 8 · HR Operations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Information for workers and applicants is accessible to persons with disabilities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79393" y="4800600"/>
            <a:ext cx="2602153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3985" y="4928616"/>
            <a:ext cx="227296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Art. 9(6) · HR Director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Management confirms the accuracy of the report after consulting workers' representatives, who can see the method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7" y="4800600"/>
            <a:ext cx="2602153" cy="13716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4739" y="4928616"/>
            <a:ext cx="2272969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5F6B7A"/>
                </a:solidFill>
                <a:latin typeface="Calibri"/>
              </a:rPr>
              <a:t>Art. 9(9) · HR Operations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1B2430"/>
                </a:solidFill>
                <a:latin typeface="Calibri"/>
              </a:rPr>
              <a:t>Pay gaps by category of workers are provided to all workers and their representatives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11480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mbria"/>
              </a:rPr>
              <a:t>The next 90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2024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Agree job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With workers' representatives, starting from the Italian collective agreement.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92024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2538" y="219456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2538" y="274320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Justify or budget flags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2538" y="3127248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Most expensive first: a documented, gender-neutral reason or a remedy.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192024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02116" y="219456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02116" y="274320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Review Sales territories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02116" y="3127248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And every other rule that decides who can earn a component.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Fix recruitment 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76088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Pay ranges in vacancies, no pay-history questions, neutral titles.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38218" y="406908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12538" y="43434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2538" y="489204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Open information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2538" y="5276088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Written answers within two months; an annual notice to workers.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7796" y="4069080"/>
            <a:ext cx="3515258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02116" y="43434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2116" y="4892040"/>
            <a:ext cx="296661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B2430"/>
                </a:solidFill>
                <a:latin typeface="Calibri"/>
              </a:rPr>
              <a:t>Rerun on 2026 payroll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2116" y="5276088"/>
            <a:ext cx="296661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Once national rules are final; management sign-off after consultation.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Pay transparency readiness · dry run on synthetic data · not legal advice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F6B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2295144" cy="310896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For decision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Three decisions for the 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3515258" cy="2834640"/>
          </a:xfrm>
          <a:prstGeom prst="roundRect">
            <a:avLst>
              <a:gd name="adj" fmla="val 8000"/>
            </a:avLst>
          </a:prstGeom>
          <a:solidFill>
            <a:srgbClr val="2A4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EB6834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Mandate the job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6E6"/>
                </a:solidFill>
                <a:latin typeface="Calibri"/>
              </a:rPr>
              <a:t>Owner: Reward, with workers' representatives in each country. Categories decide every later number.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2286000"/>
            <a:ext cx="3515258" cy="2834640"/>
          </a:xfrm>
          <a:prstGeom prst="roundRect">
            <a:avLst>
              <a:gd name="adj" fmla="val 8000"/>
            </a:avLst>
          </a:prstGeom>
          <a:solidFill>
            <a:srgbClr val="2A4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8258" y="2560320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EB6834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8258" y="329184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Reserve up to €1.9M a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8258" y="4069080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6E6"/>
                </a:solidFill>
                <a:latin typeface="Calibri"/>
              </a:rPr>
              <a:t>A ceiling for remedies, released category by category once justifications are reviewed.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7796" y="2286000"/>
            <a:ext cx="3515258" cy="2834640"/>
          </a:xfrm>
          <a:prstGeom prst="roundRect">
            <a:avLst>
              <a:gd name="adj" fmla="val 8000"/>
            </a:avLst>
          </a:prstGeom>
          <a:solidFill>
            <a:srgbClr val="2A4B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7836" y="2560320"/>
            <a:ext cx="28751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EB6834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7836" y="3291840"/>
            <a:ext cx="287517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Name owners for Articles 5 to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7836" y="4069080"/>
            <a:ext cx="287517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6E6"/>
                </a:solidFill>
                <a:latin typeface="Calibri"/>
              </a:rPr>
              <a:t>Recruitment, pay criteria and information requests, live before the first report.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CAD6E6"/>
                </a:solidFill>
                <a:latin typeface="Calibri"/>
              </a:rPr>
              <a:t>Method: every figure computed twice - in Python and in a live Excel model - and reconciled. Legal status checked on 16 September 2026, sources in docs/verification.md. Synthetic data; not legal advice.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github.com/D0M3N1C0X/pay-transparency-readiness-kit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 transparency: where we stand before the first report</dc:title>
  <dc:subject/>
  <dc:creator>Domenico Perroni</dc:creator>
  <cp:keywords/>
  <dc:description>generated using python-pptx</dc:description>
  <cp:lastModifiedBy>Domenico Perroni</cp:lastModifiedBy>
  <cp:revision>1</cp:revision>
  <dcterms:created xsi:type="dcterms:W3CDTF">2026-01-01T00:00:00Z</dcterms:created>
  <dcterms:modified xsi:type="dcterms:W3CDTF">2026-01-01T00:00:00Z</dcterms:modified>
  <cp:category/>
</cp:coreProperties>
</file>