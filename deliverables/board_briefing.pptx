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Mean gap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Sheet1!$A$2:$A$5</c:f>
              <c:strCache>
                <c:ptCount val="4"/>
                <c:pt idx="0">
                  <c:v>IT · Milan</c:v>
                </c:pt>
                <c:pt idx="1">
                  <c:v>PL · Kraków</c:v>
                </c:pt>
                <c:pt idx="2">
                  <c:v>DE · Munich</c:v>
                </c:pt>
                <c:pt idx="3">
                  <c:v>ES · Barcelona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0.19690178045978837</c:v>
                </c:pt>
                <c:pt idx="1">
                  <c:v>0.1516992449144029</c:v>
                </c:pt>
                <c:pt idx="2">
                  <c:v>0.14542676945197494</c:v>
                </c:pt>
                <c:pt idx="3">
                  <c:v>0.21517341857768565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Median gap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Sheet1!$A$2:$A$5</c:f>
              <c:strCache>
                <c:ptCount val="4"/>
                <c:pt idx="0">
                  <c:v>IT · Milan</c:v>
                </c:pt>
                <c:pt idx="1">
                  <c:v>PL · Kraków</c:v>
                </c:pt>
                <c:pt idx="2">
                  <c:v>DE · Munich</c:v>
                </c:pt>
                <c:pt idx="3">
                  <c:v>ES · Barcelona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0.16851168511685113</c:v>
                </c:pt>
                <c:pt idx="1">
                  <c:v>0.12505825695199613</c:v>
                </c:pt>
                <c:pt idx="2">
                  <c:v>0.1132663664703845</c:v>
                </c:pt>
                <c:pt idx="3">
                  <c:v>0.18901660280970636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100">
                  <a:solidFill>
                    <a:srgbClr val="1B243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1B243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Lowest band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Sheet1!$A$2:$A$5</c:f>
              <c:strCache>
                <c:ptCount val="4"/>
                <c:pt idx="0">
                  <c:v>IT · Milan</c:v>
                </c:pt>
                <c:pt idx="1">
                  <c:v>PL · Kraków</c:v>
                </c:pt>
                <c:pt idx="2">
                  <c:v>DE · Munich</c:v>
                </c:pt>
                <c:pt idx="3">
                  <c:v>ES · Barcelona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0.6287878787878788</c:v>
                </c:pt>
                <c:pt idx="1">
                  <c:v>0.5882352941176471</c:v>
                </c:pt>
                <c:pt idx="2">
                  <c:v>0.543010752688172</c:v>
                </c:pt>
                <c:pt idx="3">
                  <c:v>0.6612903225806451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Highest band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Sheet1!$A$2:$A$5</c:f>
              <c:strCache>
                <c:ptCount val="4"/>
                <c:pt idx="0">
                  <c:v>IT · Milan</c:v>
                </c:pt>
                <c:pt idx="1">
                  <c:v>PL · Kraków</c:v>
                </c:pt>
                <c:pt idx="2">
                  <c:v>DE · Munich</c:v>
                </c:pt>
                <c:pt idx="3">
                  <c:v>ES · Barcelona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0.3155893536121673</c:v>
                </c:pt>
                <c:pt idx="1">
                  <c:v>0.35986159169550175</c:v>
                </c:pt>
                <c:pt idx="2">
                  <c:v>0.372972972972973</c:v>
                </c:pt>
                <c:pt idx="3">
                  <c:v>0.3008130081300813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>
                  <a:solidFill>
                    <a:srgbClr val="1B243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1B243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tell the board where the organisation stands against the EU Pay Transparency Directive before the first statutory report, and what decisions are needed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four numbers. The cost is an upper bound: it lifts the lower-paid sex's average hourly pay in every flagged category, before any part of the gap is justified.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Italy has transposed in full among our four countries. The Directive's dates still frame the plan; national acts can add detail on method and filing, which is why the model keeps every choice in a Settings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15.4% base-pay figure is the same number the earlier people-analytics review found, which is a useful cross-check: the two analyses agree before components are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Quartile bands are four equal groups of workers ranked by hourly pay within each employer.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territory effect is planted in the synthetic data on purpose, and documented, so the screen can be shown finding it. In a real client this is a question for Sales operations: how are territories assigned?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Flag rule: a difference of 5% or more in either direction, on hourly or annual pay. Categories come from a gender-neutral job evaluation on skills, effort, responsibility and working conditions. Two categories have fewer than five workers of one sex; their figures go only to workers' representatives, the labour inspectorate or the equality body.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Statuses are illustrative for the demonstration organisation.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for the three decisions explicitly. The budget is a ceiling, not a spend: justified gaps need documentation, not money.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097280"/>
            <a:ext cx="2843784" cy="310896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Directive (EU) 2023/970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Pay transparency: where we stand before the first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CAD6E6"/>
                </a:solidFill>
                <a:latin typeface="Calibri"/>
              </a:rPr>
              <a:t>Dry run on pay at 30 June 2026 · four employers · 3,443 workers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Board briefing · September 2026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CAD6E6"/>
                </a:solidFill>
                <a:latin typeface="Calibri"/>
              </a:rPr>
              <a:t>Synthetic data built for demonstration. Not legal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417319" cy="310896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The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mbria"/>
              </a:rPr>
              <a:t>Four employers report every year from June 2027, and none is ready yet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2567863" cy="18288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2110663" cy="7315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mbria"/>
              </a:rPr>
              <a:t>Jun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154680"/>
            <a:ext cx="211066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2430"/>
                </a:solidFill>
                <a:latin typeface="Calibri"/>
              </a:rPr>
              <a:t>first report, due 7 June 2027, for all four employers; then every year (Art. 9(2))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0823" y="2103120"/>
            <a:ext cx="2567863" cy="18288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9423" y="2331720"/>
            <a:ext cx="2110663" cy="7315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EB6834"/>
                </a:solidFill>
                <a:latin typeface="Cambria"/>
              </a:rPr>
              <a:t>17.6%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9423" y="3154680"/>
            <a:ext cx="211066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2430"/>
                </a:solidFill>
                <a:latin typeface="Calibri"/>
              </a:rPr>
              <a:t>gender pay gap on hourly pay across the group (Art. 9(1)(a))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2103120"/>
            <a:ext cx="2567863" cy="18288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2331720"/>
            <a:ext cx="2110663" cy="7315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EB6834"/>
                </a:solidFill>
                <a:latin typeface="Cambria"/>
              </a:rPr>
              <a:t>12 of 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1607" y="3154680"/>
            <a:ext cx="211066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2430"/>
                </a:solidFill>
                <a:latin typeface="Calibri"/>
              </a:rPr>
              <a:t>categories of workers at 5% or more: justify or remedy (Art. 10)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75191" y="2103120"/>
            <a:ext cx="2567863" cy="18288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03791" y="2331720"/>
            <a:ext cx="2110663" cy="7315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mbria"/>
              </a:rPr>
              <a:t>€1.9M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03791" y="3154680"/>
            <a:ext cx="211066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2430"/>
                </a:solidFill>
                <a:latin typeface="Calibri"/>
              </a:rPr>
              <a:t>a year, at most, to close those gaps outright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389120"/>
            <a:ext cx="1109441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B2430"/>
                </a:solidFill>
                <a:latin typeface="Calibri"/>
              </a:rPr>
              <a:t>Readiness: 1 of 14 obligations in place, 6 partly, 7 missing.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F6B7A"/>
                </a:solidFill>
                <a:latin typeface="Calibri"/>
              </a:rPr>
              <a:t>Without a justification or a remedy by 7 December 2027, each flagged category triggers a joint pay assessment with workers' representatives - and, where the transparency duties were not met, the burden of proof in a pay claim shifts to the employer (Art. 18(2)).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Pay transparency readiness · dry run on synthetic data · not legal advice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2624328" cy="310896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Articles 9, 10 and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mbria"/>
              </a:rPr>
              <a:t>The timetable is fixed; the national rules are not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148840"/>
            <a:ext cx="256032" cy="256032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59536.0" y="2276856"/>
            <a:ext cx="2476423.75" cy="0"/>
          </a:xfrm>
          <a:prstGeom prst="line">
            <a:avLst/>
          </a:prstGeom>
          <a:ln w="19050">
            <a:solidFill>
              <a:srgbClr val="C3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2560320"/>
            <a:ext cx="25678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Cambria"/>
              </a:rPr>
              <a:t>7 Jun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25678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2430"/>
                </a:solidFill>
                <a:latin typeface="Calibri"/>
              </a:rPr>
              <a:t>Transposition deadline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37560"/>
            <a:ext cx="256786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B7A"/>
                </a:solidFill>
                <a:latin typeface="Calibri"/>
              </a:rPr>
              <a:t>Member States had to bring the Directive into national law.</a:t>
            </a:r>
          </a:p>
        </p:txBody>
      </p:sp>
      <p:sp>
        <p:nvSpPr>
          <p:cNvPr id="9" name="Oval 8"/>
          <p:cNvSpPr/>
          <p:nvPr/>
        </p:nvSpPr>
        <p:spPr>
          <a:xfrm>
            <a:off x="3390823" y="2148840"/>
            <a:ext cx="256032" cy="256032"/>
          </a:xfrm>
          <a:prstGeom prst="ellipse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3701719.75" y="2276856"/>
            <a:ext cx="2476423.75" cy="0"/>
          </a:xfrm>
          <a:prstGeom prst="line">
            <a:avLst/>
          </a:prstGeom>
          <a:ln w="19050">
            <a:solidFill>
              <a:srgbClr val="C3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390823" y="2560320"/>
            <a:ext cx="25678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Cambria"/>
              </a:rPr>
              <a:t>7 Jun 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0823" y="2971800"/>
            <a:ext cx="25678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2430"/>
                </a:solidFill>
                <a:latin typeface="Calibri"/>
              </a:rPr>
              <a:t>First pay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0823" y="3337560"/>
            <a:ext cx="256786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B7A"/>
                </a:solidFill>
                <a:latin typeface="Calibri"/>
              </a:rPr>
              <a:t>250+ workers: every year. 150-249: every three years.</a:t>
            </a:r>
          </a:p>
        </p:txBody>
      </p:sp>
      <p:sp>
        <p:nvSpPr>
          <p:cNvPr id="14" name="Oval 13"/>
          <p:cNvSpPr/>
          <p:nvPr/>
        </p:nvSpPr>
        <p:spPr>
          <a:xfrm>
            <a:off x="6233007" y="2148840"/>
            <a:ext cx="256032" cy="256032"/>
          </a:xfrm>
          <a:prstGeom prst="ellipse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543903.5" y="2276856"/>
            <a:ext cx="2476423.75" cy="0"/>
          </a:xfrm>
          <a:prstGeom prst="line">
            <a:avLst/>
          </a:prstGeom>
          <a:ln w="19050">
            <a:solidFill>
              <a:srgbClr val="C3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233007" y="2560320"/>
            <a:ext cx="25678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Cambria"/>
              </a:rPr>
              <a:t>7 Dec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3007" y="2971800"/>
            <a:ext cx="25678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2430"/>
                </a:solidFill>
                <a:latin typeface="Calibri"/>
              </a:rPr>
              <a:t>Justify or remedy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3337560"/>
            <a:ext cx="256786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B7A"/>
                </a:solidFill>
                <a:latin typeface="Calibri"/>
              </a:rPr>
              <a:t>Six months to explain or close any category gap of 5% or more.</a:t>
            </a:r>
          </a:p>
        </p:txBody>
      </p:sp>
      <p:sp>
        <p:nvSpPr>
          <p:cNvPr id="19" name="Oval 18"/>
          <p:cNvSpPr/>
          <p:nvPr/>
        </p:nvSpPr>
        <p:spPr>
          <a:xfrm>
            <a:off x="9075191" y="2148840"/>
            <a:ext cx="256032" cy="256032"/>
          </a:xfrm>
          <a:prstGeom prst="ellipse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75191" y="2560320"/>
            <a:ext cx="25678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Cambria"/>
              </a:rPr>
              <a:t>Then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5191" y="2971800"/>
            <a:ext cx="25678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2430"/>
                </a:solidFill>
                <a:latin typeface="Calibri"/>
              </a:rPr>
              <a:t>Joint pay assessment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5191" y="3337560"/>
            <a:ext cx="256786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B7A"/>
                </a:solidFill>
                <a:latin typeface="Calibri"/>
              </a:rPr>
              <a:t>With workers' representatives, if a gap is neither justified nor remedied.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343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B2430"/>
                </a:solidFill>
                <a:latin typeface="Calibri"/>
              </a:rPr>
              <a:t>Status of national law, 16 September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82803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B2430"/>
                </a:solidFill>
                <a:latin typeface="Calibri"/>
              </a:rPr>
              <a:t>IT · Milan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7400" y="480060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Transposed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40" y="4782312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F6B7A"/>
                </a:solidFill>
                <a:latin typeface="Calibri"/>
              </a:rPr>
              <a:t>D.Lgs. 96/2026, in force 7 June 2026; collective agreements anchor the categories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82803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B2430"/>
                </a:solidFill>
                <a:latin typeface="Calibri"/>
              </a:rPr>
              <a:t>PL · Kraków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26680" y="480060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B2430"/>
                </a:solidFill>
                <a:latin typeface="Calibri"/>
              </a:rPr>
              <a:t>Partly transposed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4782312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F6B7A"/>
                </a:solidFill>
                <a:latin typeface="Calibri"/>
              </a:rPr>
              <a:t>Recruitment rules in force; the reporting act is a draft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51383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B2430"/>
                </a:solidFill>
                <a:latin typeface="Calibri"/>
              </a:rPr>
              <a:t>DE · Munich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057400" y="548640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Not transposed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40" y="5468112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F6B7A"/>
                </a:solidFill>
                <a:latin typeface="Calibri"/>
              </a:rPr>
              <a:t>No act yet; the 2017 pay transparency act still applies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51383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B2430"/>
                </a:solidFill>
                <a:latin typeface="Calibri"/>
              </a:rPr>
              <a:t>ES · Barcelona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6680" y="548640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B2430"/>
                </a:solidFill>
                <a:latin typeface="Calibri"/>
              </a:rPr>
              <a:t>Draft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5468112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F6B7A"/>
                </a:solidFill>
                <a:latin typeface="Calibri"/>
              </a:rPr>
              <a:t>Draft Royal Decree, consulted in August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Pay transparency readiness · dry run on synthetic data · not legal advice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2843784" cy="310896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Article 9(1)(a) and (c)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mbria"/>
              </a:rPr>
              <a:t>Women earn less per hour in every employer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A"/>
                </a:solidFill>
                <a:latin typeface="Calibri"/>
              </a:rPr>
              <a:t>Gender pay gap on gross hourly pay, base plus bonus, commission and allowances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219456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55279" y="2377440"/>
            <a:ext cx="36576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2430"/>
                </a:solidFill>
                <a:latin typeface="Calibri"/>
              </a:rPr>
              <a:t>Median below mean everywhere</a:t>
            </a:r>
          </a:p>
          <a:p>
            <a:pPr algn="l">
              <a:spcAft>
                <a:spcPts val="1600"/>
              </a:spcAft>
            </a:pPr>
            <a:r>
              <a:rPr sz="1400" b="0" i="0">
                <a:solidFill>
                  <a:srgbClr val="5F6B7A"/>
                </a:solidFill>
                <a:latin typeface="Calibri"/>
              </a:rPr>
              <a:t>The gap is concentrated at the top of the pay distribution.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2430"/>
                </a:solidFill>
                <a:latin typeface="Calibri"/>
              </a:rPr>
              <a:t>Base pay alone: 15.4%</a:t>
            </a:r>
          </a:p>
          <a:p>
            <a:pPr algn="l">
              <a:spcAft>
                <a:spcPts val="1600"/>
              </a:spcAft>
            </a:pPr>
            <a:r>
              <a:rPr sz="1400" b="0" i="0">
                <a:solidFill>
                  <a:srgbClr val="5F6B7A"/>
                </a:solidFill>
                <a:latin typeface="Calibri"/>
              </a:rPr>
              <a:t>Components add 2.2 points to the group gap - the part a base-pay analysis misses.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2430"/>
                </a:solidFill>
                <a:latin typeface="Calibri"/>
              </a:rPr>
              <a:t>Group: 17.6% mean, 15.6% median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A"/>
                </a:solidFill>
                <a:latin typeface="Calibri"/>
              </a:rPr>
              <a:t>A management view; each employer reports on its 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Pay transparency readiness · dry run on synthetic data · not legal advice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Article 9(1)(f)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mbria"/>
              </a:rPr>
              <a:t>Women fill the lowest pay band, not the highest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A"/>
                </a:solidFill>
                <a:latin typeface="Calibri"/>
              </a:rPr>
              <a:t>Share of women in the lowest and highest of four equal pay bands, by employer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219456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55279" y="2377440"/>
            <a:ext cx="36576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2430"/>
                </a:solidFill>
                <a:latin typeface="Calibri"/>
              </a:rPr>
              <a:t>60% of the lowest band, 34% of the highest</a:t>
            </a:r>
          </a:p>
          <a:p>
            <a:pPr algn="l">
              <a:spcAft>
                <a:spcPts val="1600"/>
              </a:spcAft>
            </a:pPr>
            <a:r>
              <a:rPr sz="1400" b="0" i="0">
                <a:solidFill>
                  <a:srgbClr val="5F6B7A"/>
                </a:solidFill>
                <a:latin typeface="Calibri"/>
              </a:rPr>
              <a:t>Across the group, against 50% parity.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2430"/>
                </a:solidFill>
                <a:latin typeface="Calibri"/>
              </a:rPr>
              <a:t>Vertical segregation is the main driver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A"/>
                </a:solidFill>
                <a:latin typeface="Calibri"/>
              </a:rPr>
              <a:t>Women are 57% of entry roles and 30% of country heads of function. Promotion and hiring into senior roles move this number more than pay adjustments 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Pay transparency readiness · dry run on synthetic data · not legal advice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3392424" cy="310896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Article 9(1)(b), (d) and (e)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mbria"/>
              </a:rPr>
              <a:t>Bonus, commission and allowances widen the gap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3058058" cy="7315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EB6834"/>
                </a:solidFill>
                <a:latin typeface="Cambria"/>
              </a:rPr>
              <a:t>31.1%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971800"/>
            <a:ext cx="3058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2430"/>
                </a:solidFill>
                <a:latin typeface="Calibri"/>
              </a:rPr>
              <a:t>gap in average components, among workers who receive any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8218" y="1920240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66818" y="2148840"/>
            <a:ext cx="3058058" cy="7315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1F3A5F"/>
                </a:solidFill>
                <a:latin typeface="Cambria"/>
              </a:rPr>
              <a:t>8.2 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66818" y="2971800"/>
            <a:ext cx="3058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2430"/>
                </a:solidFill>
                <a:latin typeface="Calibri"/>
              </a:rPr>
              <a:t>fewer women receive any component: 55% against 64% of men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7796" y="1920240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6396" y="2148840"/>
            <a:ext cx="3058058" cy="7315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EB6834"/>
                </a:solidFill>
                <a:latin typeface="Cambria"/>
              </a:rPr>
              <a:t>2.6 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6396" y="2971800"/>
            <a:ext cx="3058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2430"/>
                </a:solidFill>
                <a:latin typeface="Calibri"/>
              </a:rPr>
              <a:t>lower commission rate for women in Sales: 12.6% of base pay against 15.1%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14800"/>
            <a:ext cx="11094415" cy="20116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343400"/>
            <a:ext cx="51206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2430"/>
                </a:solidFill>
                <a:latin typeface="Calibri"/>
              </a:rPr>
              <a:t>Eligibility follows seniority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A"/>
                </a:solidFill>
                <a:latin typeface="Calibri"/>
              </a:rPr>
              <a:t>Bonus starts at L3 and car allowances at L5, where fewer women work. Structural, and visible in the quartile bands.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4343400"/>
            <a:ext cx="51206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2430"/>
                </a:solidFill>
                <a:latin typeface="Calibri"/>
              </a:rPr>
              <a:t>Commission follows territory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A"/>
                </a:solidFill>
                <a:latin typeface="Calibri"/>
              </a:rPr>
              <a:t>The commission rules are the same for everyone; women are given territories with lower potential. Neutral on paper, unequal in effect: the kind of rule a joint pay assessment exists to find.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Pay transparency readiness · dry run on synthetic data · not legal advice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417319" cy="310896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Article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mbria"/>
              </a:rPr>
              <a:t>12 categories to justify or remedy by 7 Dec 2027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83080"/>
          <a:ext cx="11091672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280160"/>
                <a:gridCol w="1188720"/>
                <a:gridCol w="4206240"/>
                <a:gridCol w="158191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Employer</a:t>
                      </a:r>
                    </a:p>
                  </a:txBody>
                  <a:tcPr marT="30000" marB="3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T="30000" marB="3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Women / men</a:t>
                      </a:r>
                    </a:p>
                  </a:txBody>
                  <a:tcPr marT="30000" marB="3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Hourly gap</a:t>
                      </a:r>
                    </a:p>
                  </a:txBody>
                  <a:tcPr marT="30000" marB="3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Main driver</a:t>
                      </a:r>
                    </a:p>
                  </a:txBody>
                  <a:tcPr marT="30000" marB="3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Cost to close</a:t>
                      </a:r>
                    </a:p>
                  </a:txBody>
                  <a:tcPr marT="30000" marB="30000">
                    <a:solidFill>
                      <a:srgbClr val="1F3A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IT · Milan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147 / 106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7.4%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Base pay (7.9 of 7.4 pts)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€332k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PL · Kraków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125 / 133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5.7%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Base pay (5.9 of 5.7 pts)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€263k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DE · Munich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47 / 65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6.0%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Base pay (5.9 of 6.0 pts)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€254k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PL · Kraków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37 / 56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8.0%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Base pay (6.3 of 8.0 pts)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€222k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PL · Kraków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49 / 87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7.9%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Base pay (6.8 of 7.9 pts)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€189k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ES · Barcelona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56 / 52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6.9%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Base pay (4.8 of 6.9 pts)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€173k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ES · Barcelona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5 / 24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Base pay (-5.7 of -5.2 pts)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€107k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ES · Barcelona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64 / 48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5.3%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Base pay (5.2 of 5.3 pts)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€98k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IT · Milan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7 / 20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10.5%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Components (5.4 of 10.5 pts)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€95k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IT · Milan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72 / 55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4.1%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Hours worked: flagged on annual pay only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€85k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ES · Barcelona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28 / 41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5.0%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Components (2.8 of 5.0 pts)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€83k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ES · Barcelona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4 / 9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2.4%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Hours worked: flagged on annual pay only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€12k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Pay transparency readiness · dry run on synthetic data · not legal advice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2075688" cy="310896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Articles 4 to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mbria"/>
              </a:rPr>
              <a:t>Most of what workers will see is not built yet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1371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1B2430"/>
                </a:solidFill>
                <a:latin typeface="Cambria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65176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Ready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48840" y="1874519"/>
            <a:ext cx="1371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1B2430"/>
                </a:solidFill>
                <a:latin typeface="Cambria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48840" y="265176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B2430"/>
                </a:solidFill>
                <a:latin typeface="Calibri"/>
              </a:rPr>
              <a:t>Partial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40" y="1874519"/>
            <a:ext cx="1371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1B2430"/>
                </a:solidFill>
                <a:latin typeface="Cambria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40" y="265176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2011680"/>
            <a:ext cx="5943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F6B7A"/>
                </a:solidFill>
                <a:latin typeface="Calibri"/>
              </a:rPr>
              <a:t>The missing pieces are the ones workers and applicants see first: pay ranges, published criteria, an answer to their questions.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46120"/>
            <a:ext cx="2602153" cy="13716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3374136"/>
            <a:ext cx="2272969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5F6B7A"/>
                </a:solidFill>
                <a:latin typeface="Calibri"/>
              </a:rPr>
              <a:t>Art. 5(1) · Talent Acquisition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B2430"/>
                </a:solidFill>
                <a:latin typeface="Calibri"/>
              </a:rPr>
              <a:t>Applicants receive the initial pay or its range, and the relevant collective agreement provisions, before the interview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79393" y="3246120"/>
            <a:ext cx="2602153" cy="13716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3985" y="3374136"/>
            <a:ext cx="2272969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5F6B7A"/>
                </a:solidFill>
                <a:latin typeface="Calibri"/>
              </a:rPr>
              <a:t>Art. 6(1) · Reward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B2430"/>
                </a:solidFill>
                <a:latin typeface="Calibri"/>
              </a:rPr>
              <a:t>Workers can easily access the criteria that set pay, pay levels and pay progression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3246120"/>
            <a:ext cx="2602153" cy="13716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4739" y="3374136"/>
            <a:ext cx="2272969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5F6B7A"/>
                </a:solidFill>
                <a:latin typeface="Calibri"/>
              </a:rPr>
              <a:t>Art. 7(1) and 7(4) · HR Operations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B2430"/>
                </a:solidFill>
                <a:latin typeface="Calibri"/>
              </a:rPr>
              <a:t>Workers can request their own pay level and the average pay by sex for their category, answered in writing within two months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0901" y="3246120"/>
            <a:ext cx="2602153" cy="13716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05493" y="3374136"/>
            <a:ext cx="2272969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5F6B7A"/>
                </a:solidFill>
                <a:latin typeface="Calibri"/>
              </a:rPr>
              <a:t>Art. 7(3) · HR Operations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B2430"/>
                </a:solidFill>
                <a:latin typeface="Calibri"/>
              </a:rPr>
              <a:t>Workers are told every year of their right to request that information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00600"/>
            <a:ext cx="2602153" cy="13716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4928616"/>
            <a:ext cx="2272969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5F6B7A"/>
                </a:solidFill>
                <a:latin typeface="Calibri"/>
              </a:rPr>
              <a:t>Art. 8 · HR Operations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B2430"/>
                </a:solidFill>
                <a:latin typeface="Calibri"/>
              </a:rPr>
              <a:t>Information for workers and applicants is accessible to persons with disabilities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79393" y="4800600"/>
            <a:ext cx="2602153" cy="13716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43985" y="4928616"/>
            <a:ext cx="2272969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5F6B7A"/>
                </a:solidFill>
                <a:latin typeface="Calibri"/>
              </a:rPr>
              <a:t>Art. 9(6) · HR Director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B2430"/>
                </a:solidFill>
                <a:latin typeface="Calibri"/>
              </a:rPr>
              <a:t>Management confirms the accuracy of the report after consulting workers' representatives, who can see the method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0147" y="4800600"/>
            <a:ext cx="2602153" cy="13716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4739" y="4928616"/>
            <a:ext cx="2272969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5F6B7A"/>
                </a:solidFill>
                <a:latin typeface="Calibri"/>
              </a:rPr>
              <a:t>Art. 9(9) · HR Operations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B2430"/>
                </a:solidFill>
                <a:latin typeface="Calibri"/>
              </a:rPr>
              <a:t>Pay gaps by category of workers are provided to all workers and their representatives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Pay transparency readiness · dry run on synthetic data · not legal advice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The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mbria"/>
              </a:rPr>
              <a:t>The next 90 days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3515258" cy="1874519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219456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29666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2430"/>
                </a:solidFill>
                <a:latin typeface="Calibri"/>
              </a:rPr>
              <a:t>Agree job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27248"/>
            <a:ext cx="296661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B7A"/>
                </a:solidFill>
                <a:latin typeface="Calibri"/>
              </a:rPr>
              <a:t>With workers' representatives, starting from the Italian collective agreement.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8218" y="1920240"/>
            <a:ext cx="3515258" cy="1874519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12538" y="219456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2538" y="2743200"/>
            <a:ext cx="29666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2430"/>
                </a:solidFill>
                <a:latin typeface="Calibri"/>
              </a:rPr>
              <a:t>Justify or budget flags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2538" y="3127248"/>
            <a:ext cx="296661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B7A"/>
                </a:solidFill>
                <a:latin typeface="Calibri"/>
              </a:rPr>
              <a:t>Most expensive first: a documented, gender-neutral reason or a remedy.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7796" y="1920240"/>
            <a:ext cx="3515258" cy="1874519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2116" y="219456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2116" y="2743200"/>
            <a:ext cx="29666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2430"/>
                </a:solidFill>
                <a:latin typeface="Calibri"/>
              </a:rPr>
              <a:t>Review Sales territories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02116" y="3127248"/>
            <a:ext cx="296661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B7A"/>
                </a:solidFill>
                <a:latin typeface="Calibri"/>
              </a:rPr>
              <a:t>And every other rule that decides who can earn a component.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69080"/>
            <a:ext cx="3515258" cy="1874519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2960" y="434340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892040"/>
            <a:ext cx="29666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2430"/>
                </a:solidFill>
                <a:latin typeface="Calibri"/>
              </a:rPr>
              <a:t>Fix recruitment now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276088"/>
            <a:ext cx="296661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B7A"/>
                </a:solidFill>
                <a:latin typeface="Calibri"/>
              </a:rPr>
              <a:t>Pay ranges in vacancies, no pay-history questions, neutral titles.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38218" y="4069080"/>
            <a:ext cx="3515258" cy="1874519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612538" y="434340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2538" y="4892040"/>
            <a:ext cx="29666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2430"/>
                </a:solidFill>
                <a:latin typeface="Calibri"/>
              </a:rPr>
              <a:t>Open information route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2538" y="5276088"/>
            <a:ext cx="296661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B7A"/>
                </a:solidFill>
                <a:latin typeface="Calibri"/>
              </a:rPr>
              <a:t>Written answers within two months; an annual notice to workers.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27796" y="4069080"/>
            <a:ext cx="3515258" cy="1874519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2116" y="434340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02116" y="4892040"/>
            <a:ext cx="29666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2430"/>
                </a:solidFill>
                <a:latin typeface="Calibri"/>
              </a:rPr>
              <a:t>Rerun on 2026 payroll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2116" y="5276088"/>
            <a:ext cx="296661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B7A"/>
                </a:solidFill>
                <a:latin typeface="Calibri"/>
              </a:rPr>
              <a:t>Once national rules are final; management sign-off after consultation.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Pay transparency readiness · dry run on synthetic data · not legal advice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48640"/>
            <a:ext cx="2295144" cy="310896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For decision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Three decisions for the 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286000"/>
            <a:ext cx="3515258" cy="2834640"/>
          </a:xfrm>
          <a:prstGeom prst="roundRect">
            <a:avLst>
              <a:gd name="adj" fmla="val 8000"/>
            </a:avLst>
          </a:prstGeom>
          <a:solidFill>
            <a:srgbClr val="2A4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560320"/>
            <a:ext cx="28751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EB6834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9184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Mandate the job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069080"/>
            <a:ext cx="287517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CAD6E6"/>
                </a:solidFill>
                <a:latin typeface="Calibri"/>
              </a:rPr>
              <a:t>Owner: Reward, with workers' representatives in each country. Categories decide every later number.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8218" y="2286000"/>
            <a:ext cx="3515258" cy="2834640"/>
          </a:xfrm>
          <a:prstGeom prst="roundRect">
            <a:avLst>
              <a:gd name="adj" fmla="val 8000"/>
            </a:avLst>
          </a:prstGeom>
          <a:solidFill>
            <a:srgbClr val="2A4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58258" y="2560320"/>
            <a:ext cx="28751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EB6834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8258" y="329184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Reserve up to €1.9M a 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58258" y="4069080"/>
            <a:ext cx="287517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CAD6E6"/>
                </a:solidFill>
                <a:latin typeface="Calibri"/>
              </a:rPr>
              <a:t>A ceiling for remedies, released category by category once justifications are reviewed.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7796" y="2286000"/>
            <a:ext cx="3515258" cy="2834640"/>
          </a:xfrm>
          <a:prstGeom prst="roundRect">
            <a:avLst>
              <a:gd name="adj" fmla="val 8000"/>
            </a:avLst>
          </a:prstGeom>
          <a:solidFill>
            <a:srgbClr val="2A4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47836" y="2560320"/>
            <a:ext cx="28751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EB6834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47836" y="329184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Name owners for Articles 5 to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47836" y="4069080"/>
            <a:ext cx="287517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CAD6E6"/>
                </a:solidFill>
                <a:latin typeface="Calibri"/>
              </a:rPr>
              <a:t>Recruitment, pay criteria and information requests, live before the first report.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7607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CAD6E6"/>
                </a:solidFill>
                <a:latin typeface="Calibri"/>
              </a:rPr>
              <a:t>Method: every figure computed twice - in Python and in a live Excel model - and reconciled. Legal status checked on 16 September 2026, sources in docs/verification.md. Synthetic data; not legal advice.</a:t>
            </a:r>
          </a:p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github.com/D0M3N1C0X/pay-transparency-readiness-kit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Pay transparency: where we stand before the first report</dc:title>
  <dc:subject/>
  <dc:creator>Domenico Perroni</dc:creator>
  <cp:keywords/>
  <dc:description>generated using python-pptx</dc:description>
  <cp:lastModifiedBy>Domenico Perroni</cp:lastModifiedBy>
  <cp:revision>1</cp:revision>
  <dcterms:created xsi:type="dcterms:W3CDTF">2026-01-01T00:00:00Z</dcterms:created>
  <dcterms:modified xsi:type="dcterms:W3CDTF">2026-01-01T00:00:00Z</dcterms:modified>
  <cp:category/>
</cp:coreProperties>
</file>